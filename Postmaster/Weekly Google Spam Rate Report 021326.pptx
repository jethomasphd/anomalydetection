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9" r:id="rId3"/>
    <p:sldId id="257" r:id="rId4"/>
    <p:sldId id="266" r:id="rId5"/>
    <p:sldId id="258" r:id="rId6"/>
    <p:sldId id="263" r:id="rId7"/>
    <p:sldId id="287" r:id="rId8"/>
    <p:sldId id="286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C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5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33B03-EF2B-4341-BF7B-5CCE55D7743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3FCCB-284F-4C1B-AEF7-A7DDCAD18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2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4A5EF-ACB0-A2E9-7062-F22C45D8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36357-6F97-C7B4-A4B3-D6371803F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29D65-5D3B-7566-0BD1-AA080DA38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A450A-AB1C-5114-A393-3FC1D0C02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9FC25-E7BC-4C7B-AAB5-F766C6623D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8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F7B29-911D-AC4C-0C4E-10C115F82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3C478-9649-96A8-177F-1ADCEB1E9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786FA-262E-00E4-4AFB-05D101D4E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2121E-6291-B09A-1B64-A768EDF04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AC71D-5697-8D2A-1821-1877D709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84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8BD3-3D61-257B-2BD7-E734B931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B8927-F0D7-16A2-05E1-C0DDB2141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1635A-EC31-CB7A-1C08-D772A1290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684A-5DFD-A3D6-7E37-292FAA2D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7A536-018A-5F58-7F3E-0A7151AB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1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F6EF-6910-99C5-5D4C-EDFB80B5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DF973-BFB2-6551-1307-FF54A2B16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6FE31-25E8-B311-7DCF-95137F0E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B0456-20E7-44CC-0478-544EF342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01465-E618-E5F9-D65A-4D6C3402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93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CD681-13CE-CA3C-CFC3-B65DBE6EA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6E29F-53DE-ECFC-251F-93BE77532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5C137-F4C0-D707-E456-CB102623A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040ED-C723-9283-2C72-8FDEF5696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A9392-BA48-7775-BE36-88FF6849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F024C-91F9-8521-B329-11583A7EA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54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9DD38-DF31-66FA-FFBA-13000E65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DC97B-3C7C-16A1-E540-A84849877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5C593-280C-BCB6-C85F-8DED06FC7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044EA0-4892-426C-EC74-32FB465A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3DF9F-5E74-1E0D-28FF-7FB262C52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FD7875-612A-575A-9AE5-291DB5AE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E7B4B4-DACA-9F26-8327-E252EC7DD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FA2BCC-5FDE-60AB-925B-E2624A5F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1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EFCA-5648-7869-ABE8-06507F65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F2245-75C3-A613-A8D1-BA30114EE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7EADF-3040-6ABB-AFBB-BB7F5972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BAC7D-2C11-A344-BF1D-9FF00C69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F7D4F-9A19-F968-9ADF-1E18261A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10A86-5AAA-CE9F-038A-1DC778CF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74712-759E-B96F-8F7C-41BD196E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64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B13E7-AAFE-01CD-25D7-458F5F6AB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28B8D-0650-BECD-157A-036CE10EC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C5741-4BB0-8AE7-178E-9CC6DD059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A29E6-AB52-9AC7-9BC9-01C8DB73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E2E33-08E3-C540-E0C9-C4A7726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36BB3-8E61-4574-883F-F6860B3E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E300C-C2A8-201A-A054-62BB7C72F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B7223-1985-0D44-1962-4ED745893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0B63C-6470-DC35-3F0C-569C3F8D8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689A5-FC6F-D5FC-B66F-414F901D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4B59E-E411-6AA4-D1C0-77C567DD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C3FDB-E1C1-AA0B-5A65-FFB6B72B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1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C869-A6C6-1C32-C919-AFB1CBC9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4B467-7167-4B06-3503-90C929386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899B4-AC5D-7C5A-7838-E9BE08EE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B5372-45B3-CD54-A758-B57DCA3F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91F4A-5D7D-8E20-A157-1CD9649E9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6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A1911A-7C39-2013-84D7-359F5076A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B2294-6C64-A3D0-99C4-CA1B9AA3F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2678B-E13C-942F-BF88-0AF4440E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F96D6-9CEE-805A-CD24-78EC2A2BD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28144-97CC-3E82-6D25-6B204BBD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7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AFBCC-EE85-187D-A56C-4F601D219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3B6C1-0757-2DF8-0271-AF379054D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10B20-F3C2-84EF-332B-455379AE6C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BFCB8-3510-4BDF-A3D6-A6684A05FAA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0BEB0-D826-C5FB-6528-C97312875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473FF-85C6-D466-987B-F6A7E1C62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3D2F8-03D3-4B52-A158-CB93F5EB0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5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5" name="Rectangle 3094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26) Gmail Wallpaper Hd - Nice 2K Pictures go wallpapers | Gmail, Email  marketing, App">
            <a:extLst>
              <a:ext uri="{FF2B5EF4-FFF2-40B4-BE49-F238E27FC236}">
                <a16:creationId xmlns:a16="http://schemas.microsoft.com/office/drawing/2014/main" id="{99F61E08-E7DE-0DC8-218D-3A2BFAD393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5" r="8544"/>
          <a:stretch/>
        </p:blipFill>
        <p:spPr bwMode="auto">
          <a:xfrm>
            <a:off x="2522358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6" name="Rectangle 309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F281A-FC9F-E02E-633E-AB78E426E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dirty="0"/>
              <a:t>Weekly Google Spam Rate Report</a:t>
            </a:r>
            <a:br>
              <a:rPr lang="en-US" sz="5200" dirty="0"/>
            </a:br>
            <a:r>
              <a:rPr lang="en-US" sz="5200" dirty="0"/>
              <a:t>2/13/2026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81493-47A7-99C4-F706-65B03ED74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/>
              <a:t>Jacob Thomas</a:t>
            </a:r>
          </a:p>
          <a:p>
            <a:pPr algn="l"/>
            <a:r>
              <a:rPr lang="en-US" dirty="0"/>
              <a:t>Data Scientist</a:t>
            </a:r>
          </a:p>
          <a:p>
            <a:pPr algn="l"/>
            <a:r>
              <a:rPr lang="en-US" dirty="0"/>
              <a:t>Results Generation</a:t>
            </a:r>
          </a:p>
        </p:txBody>
      </p:sp>
    </p:spTree>
    <p:extLst>
      <p:ext uri="{BB962C8B-B14F-4D97-AF65-F5344CB8AC3E}">
        <p14:creationId xmlns:p14="http://schemas.microsoft.com/office/powerpoint/2010/main" val="3121080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CE0C-9929-85B0-9BEF-B0A299E3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4440"/>
          </a:xfrm>
          <a:solidFill>
            <a:srgbClr val="83CBEB"/>
          </a:solidFill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Spam Rate Trending Overall?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050A25-9EFE-325C-3A30-DCC3CDC907D2}"/>
              </a:ext>
            </a:extLst>
          </p:cNvPr>
          <p:cNvSpPr/>
          <p:nvPr/>
        </p:nvSpPr>
        <p:spPr>
          <a:xfrm>
            <a:off x="0" y="1147156"/>
            <a:ext cx="12192000" cy="571084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818FC9-31ED-5653-DDBD-F1942D317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79026"/>
            <a:ext cx="1218368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Overall Average Spam Rate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all Timepoints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0.0051</a:t>
            </a:r>
            <a:endParaRPr kumimoji="0" lang="en-US" alt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38E39A-4ADA-93F5-0F1C-9F3BE1E01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65467" y="1538462"/>
            <a:ext cx="6652740" cy="37810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519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CE0C-9929-85B0-9BEF-B0A299E3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4440"/>
          </a:xfrm>
          <a:solidFill>
            <a:srgbClr val="83CBEB"/>
          </a:solidFill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domains are significantly different than average over the last 7-days?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050A25-9EFE-325C-3A30-DCC3CDC907D2}"/>
              </a:ext>
            </a:extLst>
          </p:cNvPr>
          <p:cNvSpPr/>
          <p:nvPr/>
        </p:nvSpPr>
        <p:spPr>
          <a:xfrm>
            <a:off x="0" y="1147156"/>
            <a:ext cx="12192000" cy="571084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D8B502-F073-E466-D3D1-F2CAB1643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542" y="5645833"/>
            <a:ext cx="6508802" cy="49244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of Significant Offenders: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adoptjobs.net, affluentspace.net, altiu.com, aptena.com, auxsy.com, azurla.com, believeemployer.net, chiliadtimes.com, collaboratedcareers.com, email-altiu.com, email-auxsy.com, hirebulletin.com, ivessi.net, jobadmiration.com, jobmodesty.com, jobnyc.net, jobpresent.net, jobs.jobsflag.com, jobsearchforce.com, jobsincareer.com, newjobpursuit.co.uk, phenomenalwork.net, tablemountainjobs.com, turoo.net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818FC9-31ED-5653-DDBD-F1942D317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79026"/>
            <a:ext cx="1218368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24 domains that are significant offenders.</a:t>
            </a:r>
            <a:endParaRPr kumimoji="0" lang="en-US" alt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EBFB6F-E65A-F3B7-8EA4-8BDFA59EE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1592" y="1555319"/>
            <a:ext cx="4868411" cy="433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9458C91-13CC-48FD-C78D-5124A05DE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768515" y="1354726"/>
            <a:ext cx="6276839" cy="41585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2974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CE0C-9929-85B0-9BEF-B0A299E3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4440"/>
          </a:xfrm>
          <a:solidFill>
            <a:srgbClr val="83CBEB"/>
          </a:solidFill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domains currently have Spam Rate &gt; 0.4%?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050A25-9EFE-325C-3A30-DCC3CDC907D2}"/>
              </a:ext>
            </a:extLst>
          </p:cNvPr>
          <p:cNvSpPr/>
          <p:nvPr/>
        </p:nvSpPr>
        <p:spPr>
          <a:xfrm>
            <a:off x="0" y="1147156"/>
            <a:ext cx="12192000" cy="571084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818FC9-31ED-5653-DDBD-F1942D317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48249"/>
            <a:ext cx="1218368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66 domains that are &gt;0.4% and require action. </a:t>
            </a:r>
            <a:endParaRPr kumimoji="0" lang="en-US" altLang="en-US" sz="2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797714-0FE6-8B96-8649-D1B1B1FBD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88" y="5098062"/>
            <a:ext cx="11852562" cy="83099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Domains with a Spam Rate greater than 0.004: 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aptena.com, careerpi.net, jobfalcon.com, jobfurries.com, newjobpursuit.co.uk, joblittle.net, jobcanyon.net, drabneedle.com, jobuliet.net, pizzazzy.net, gabellefree.com, pupicornjobs.com, ourjob.net, auxsy.com, arrangedjobs.com, jipijapa.net, zyzzyvas.net, jumbucks.net, nudiustertian.com, tablemountainjobs.com, jobwend.net, bizzjobs.com, jobbity.com, jobcafes.com, jobsincareer.com, chiliadtimes.com, clarifiedjobs.com, jobbullet.com, adoptjobs.net, winklepickertwins.com, jobgrizzly.com, jobpresent.net, addressedjobs.com, thedirectlist.com, jobdolphin.com, jobflight.net, hireablejobs.com, getacareer.co.uk, altiu.com, thesejobs.net, approvecareers.net, jobadmiration.com, turoo.net, bestnetworked.com, ivessi.net, abccareerline.com, jobmodesty.com, jobnyc.net, jotjob.com, hirebulletin.com, phenomenalwork.net, jobalien.net, benevolentemployer.net, animatedjob.net, email-auxsy.com, email-jobicorn.com, datajobsearch.net, jobsbetter.net, jobs.myjobresource.com, collaboratedcareers.com, azurla.com, manyactivejobs.co.uk, jobsearchforce.com, jobs.jobsflag.com, newsemployer.com, jobsengineau.com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CEF834-985E-BC60-7C88-72E0C88DD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60775" y="1969749"/>
            <a:ext cx="9703856" cy="23515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1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CE0C-9929-85B0-9BEF-B0A299E3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4440"/>
          </a:xfrm>
          <a:solidFill>
            <a:srgbClr val="83CBEB"/>
          </a:solidFill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has engagement been affecting spam rate the most over the last 7-days?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050A25-9EFE-325C-3A30-DCC3CDC907D2}"/>
              </a:ext>
            </a:extLst>
          </p:cNvPr>
          <p:cNvSpPr/>
          <p:nvPr/>
        </p:nvSpPr>
        <p:spPr>
          <a:xfrm>
            <a:off x="0" y="1147156"/>
            <a:ext cx="12192000" cy="571084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818FC9-31ED-5653-DDBD-F1942D317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90848"/>
            <a:ext cx="12183688" cy="12926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Rate has the strongest significant inverse correlations.</a:t>
            </a:r>
            <a:b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rate also has a significant inverse correlation with Spam Rate.</a:t>
            </a:r>
            <a:b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Unsubscribe rate has a positive correlation.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E5E0A3-E5FB-1370-DD34-4E649AC89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32961" y="2192361"/>
            <a:ext cx="2941292" cy="275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319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CE0C-9929-85B0-9BEF-B0A299E3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4440"/>
          </a:xfrm>
          <a:solidFill>
            <a:srgbClr val="83CBEB"/>
          </a:solidFill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has the balance of sends across countries been affecting spam rate over the last 7-days?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050A25-9EFE-325C-3A30-DCC3CDC907D2}"/>
              </a:ext>
            </a:extLst>
          </p:cNvPr>
          <p:cNvSpPr/>
          <p:nvPr/>
        </p:nvSpPr>
        <p:spPr>
          <a:xfrm>
            <a:off x="0" y="1147156"/>
            <a:ext cx="12192000" cy="571084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818FC9-31ED-5653-DDBD-F1942D317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" y="6362154"/>
            <a:ext cx="1218368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Spam Rate domains have more US and Other, whereas lower Spam Rate domains have more GB, IN, and ZA.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3808D676-A651-0A51-993E-C497467B0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29168" y="1367109"/>
            <a:ext cx="4276716" cy="4660006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395045D-1720-7FE0-1CA5-F493BFF50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86109" y="1367109"/>
            <a:ext cx="4276716" cy="4660006"/>
          </a:xfrm>
          <a:prstGeom prst="rect">
            <a:avLst/>
          </a:prstGeom>
          <a:solidFill>
            <a:schemeClr val="bg1"/>
          </a:solidFill>
          <a:ln w="762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229447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1778-D4D8-5227-DB5C-520D148E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7786-58E2-B91F-6293-109F66367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4440"/>
          </a:xfrm>
          <a:solidFill>
            <a:srgbClr val="83CBEB"/>
          </a:solidFill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tests are running that target spam rate, and how are they going?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65A04-C67E-F0A6-1237-C155F51A9F66}"/>
              </a:ext>
            </a:extLst>
          </p:cNvPr>
          <p:cNvSpPr/>
          <p:nvPr/>
        </p:nvSpPr>
        <p:spPr>
          <a:xfrm>
            <a:off x="0" y="1147156"/>
            <a:ext cx="12192000" cy="571084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847F8F2-7AAB-7313-C8F3-B40A107A2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" y="5801218"/>
            <a:ext cx="12183688" cy="5539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applied the algorithm to identify chronic, acute, and prophylactic domains on 2/3. Deliverability team is doing manual adjustments on Chronic domains. No other tests are running.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2A367D-9A34-5E1C-1D62-EDAFDC19A4DF}"/>
              </a:ext>
            </a:extLst>
          </p:cNvPr>
          <p:cNvSpPr txBox="1"/>
          <p:nvPr/>
        </p:nvSpPr>
        <p:spPr>
          <a:xfrm>
            <a:off x="3202551" y="2754430"/>
            <a:ext cx="5374005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🔴 Chronic Domains</a:t>
            </a:r>
          </a:p>
          <a:p>
            <a:r>
              <a:rPr lang="en-US" sz="1200" i="1" dirty="0"/>
              <a:t>Still significant from last month</a:t>
            </a:r>
            <a:br>
              <a:rPr lang="en-US" sz="1200" dirty="0"/>
            </a:br>
            <a:r>
              <a:rPr lang="en-US" sz="1200" b="1" dirty="0"/>
              <a:t>Action:</a:t>
            </a:r>
            <a:r>
              <a:rPr lang="en-US" sz="1200" dirty="0"/>
              <a:t> Manual adjustments</a:t>
            </a:r>
            <a:br>
              <a:rPr lang="en-US" sz="1200" dirty="0"/>
            </a:br>
            <a:r>
              <a:rPr lang="en-US" sz="1200" b="0" i="0" dirty="0">
                <a:solidFill>
                  <a:srgbClr val="1D1C1D"/>
                </a:solidFill>
                <a:effectLst/>
                <a:latin typeface="Monaco"/>
              </a:rPr>
              <a:t>adoptjobs.net, altiu.com, auxsy.com, azurla.com, bestnetworked.com, careerisland.net, email-altiu.com, email-auxsy.com, jobbmore.com, jobleague.net, jobprowl.net, jobsearchforce.com, turoo.net</a:t>
            </a:r>
          </a:p>
        </p:txBody>
      </p:sp>
    </p:spTree>
    <p:extLst>
      <p:ext uri="{BB962C8B-B14F-4D97-AF65-F5344CB8AC3E}">
        <p14:creationId xmlns:p14="http://schemas.microsoft.com/office/powerpoint/2010/main" val="4292814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B8473-C4B4-E4F5-A378-4EB62BC09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2BC8-A936-DE38-75A8-11F2FF9AC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4440"/>
          </a:xfrm>
          <a:solidFill>
            <a:srgbClr val="83CBEB"/>
          </a:solidFill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tests are running that target spam rate, and how are they going?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4166D-D8FF-AF48-E8A5-83596C332086}"/>
              </a:ext>
            </a:extLst>
          </p:cNvPr>
          <p:cNvSpPr/>
          <p:nvPr/>
        </p:nvSpPr>
        <p:spPr>
          <a:xfrm>
            <a:off x="0" y="1147156"/>
            <a:ext cx="12192000" cy="571084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F14AF8-0864-0283-E539-E82E9C88C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96535"/>
            <a:ext cx="12183688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Chronic domains have not yet experienced significantly reduced spam rate (b=-0.001, p=0.12)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833022B-1552-B4EB-3FA1-CBA2C1BC8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39" y="1332832"/>
            <a:ext cx="7515378" cy="469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71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CE0C-9929-85B0-9BEF-B0A299E3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4440"/>
          </a:xfrm>
          <a:solidFill>
            <a:srgbClr val="83CBEB"/>
          </a:solidFill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recommendations?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050A25-9EFE-325C-3A30-DCC3CDC907D2}"/>
              </a:ext>
            </a:extLst>
          </p:cNvPr>
          <p:cNvSpPr/>
          <p:nvPr/>
        </p:nvSpPr>
        <p:spPr>
          <a:xfrm>
            <a:off x="0" y="1147156"/>
            <a:ext cx="12192000" cy="571084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818FC9-31ED-5653-DDBD-F1942D317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53" y="3024050"/>
            <a:ext cx="6906126" cy="19389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Spam Rate is tracking towards improving. Chronic domains are approaching a trending decline after a short period of manual adjustments.</a:t>
            </a:r>
            <a:b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94A7C26-009F-3E39-BBDE-91980CD2A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431" y="1819167"/>
            <a:ext cx="2771775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964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9490</TotalTime>
  <Words>723</Words>
  <Application>Microsoft Office PowerPoint</Application>
  <PresentationFormat>Widescreen</PresentationFormat>
  <Paragraphs>29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Monaco</vt:lpstr>
      <vt:lpstr>Times New Roman</vt:lpstr>
      <vt:lpstr>Office Theme</vt:lpstr>
      <vt:lpstr>Weekly Google Spam Rate Report 2/13/2026</vt:lpstr>
      <vt:lpstr>How is Spam Rate Trending Overall?</vt:lpstr>
      <vt:lpstr>Which domains are significantly different than average over the last 7-days?</vt:lpstr>
      <vt:lpstr>Which domains currently have Spam Rate &gt; 0.4%?</vt:lpstr>
      <vt:lpstr>How has engagement been affecting spam rate the most over the last 7-days?</vt:lpstr>
      <vt:lpstr>How has the balance of sends across countries been affecting spam rate over the last 7-days?</vt:lpstr>
      <vt:lpstr>What tests are running that target spam rate, and how are they going?</vt:lpstr>
      <vt:lpstr>What tests are running that target spam rate, and how are they going?</vt:lpstr>
      <vt:lpstr>What are the recommendations?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Google Spam Rate Report</dc:title>
  <dc:creator>Jacob Thomas</dc:creator>
  <cp:lastModifiedBy>Jacob Thomas</cp:lastModifiedBy>
  <cp:revision>463</cp:revision>
  <dcterms:created xsi:type="dcterms:W3CDTF">2024-03-21T16:56:57Z</dcterms:created>
  <dcterms:modified xsi:type="dcterms:W3CDTF">2026-02-13T16:45:04Z</dcterms:modified>
</cp:coreProperties>
</file>